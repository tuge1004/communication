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480560" y="0"/>
            <a:ext cx="73152" cy="68580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0"/>
            <a:ext cx="365760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5A55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AMSI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1371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生成式AI介入下的社交媒体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圈层传播机制研究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846320" y="3108960"/>
            <a:ext cx="3200400" cy="2743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3246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基于文本主体计算化的意义-扩散耦合追踪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4023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从信息传了多远，走向信息在传播中变成了什么。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56692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汇报人：XXX    指导教师：许小可教授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中国传媒大学新闻学院    2026年</a:t>
            </a:r>
            <a:endParaRPr lang="en-US" sz="1100" dirty="0"/>
          </a:p>
        </p:txBody>
      </p:sp>
      <p:sp>
        <p:nvSpPr>
          <p:cNvPr id="12" name="AILabel"/>
          <p:cNvSpPr txBox="1"/>
          <p:nvPr/>
        </p:nvSpPr>
        <p:spPr>
          <a:xfrm>
            <a:off x="6564000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42062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问题提出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为什么需要重新思考信息扩散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理论立场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从差序格局到文本生成节点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核心理论机制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AMSI两层传播模型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04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研究程序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五篇论文的递进逻辑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05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技术实现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数据流水线与节点构建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06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方法学验证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三层验证与消融实验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07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博士五年计划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2026-2030研究路线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与许小可老师方向对接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三个交叉点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5A55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第一部分：问题提出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0" y="3474720"/>
            <a:ext cx="3657600" cy="36576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我真正想研究的问题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868680"/>
            <a:ext cx="7680960" cy="777240"/>
          </a:xfrm>
          <a:prstGeom prst="roundRect">
            <a:avLst>
              <a:gd name="adj" fmla="val 5882"/>
            </a:avLst>
          </a:prstGeom>
          <a:solidFill>
            <a:srgbClr val="F5F0EB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896112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在算法与圈层共同组织的社交媒体环境中，信息为什么会沿着特定的圈层路径传播，并在传播过程中不断发生文本变异？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51760" cy="3474720"/>
          </a:xfrm>
          <a:prstGeom prst="roundRect">
            <a:avLst>
              <a:gd name="adj" fmla="val 1724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0195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圈层传播路径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240280"/>
            <a:ext cx="2432304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信息为什么沿特定圈层结构传播？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社会结构、内容相似性与算法推荐如何共同决定信息可见性？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651760" cy="3474720"/>
          </a:xfrm>
          <a:prstGeom prst="roundRect">
            <a:avLst>
              <a:gd name="adj" fmla="val 1724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90195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传播中的文本变异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2240280"/>
            <a:ext cx="2432304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同一信息进入不同圈层后为什么会变成不同文本？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框架、立场、情感、行动指向如何系统性变化？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651760" cy="3474720"/>
          </a:xfrm>
          <a:prstGeom prst="roundRect">
            <a:avLst>
              <a:gd name="adj" fmla="val 1724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90195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算法的中介作用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44768" y="2240280"/>
            <a:ext cx="2432304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算法推荐如何同时影响谁看到什么和文本如何被改写？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算法是背景还是参与者？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577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关注的不是单纯的传播效果，而是可见性-文本生成-再次扩散的循环机制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为什么现在必须重新思考信息扩散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4572000"/>
          </a:xfrm>
          <a:prstGeom prst="roundRect">
            <a:avLst>
              <a:gd name="adj" fmla="val 116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87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经典扩散模型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3712464" cy="4050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-&gt; B -&gt; C -&gt; D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核心假设：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信息在传播中保持不变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追踪：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信息到达了谁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传播了多远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传播速度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4572000"/>
          </a:xfrm>
          <a:prstGeom prst="roundRect">
            <a:avLst>
              <a:gd name="adj" fmla="val 1163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987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生成式社交媒体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325880"/>
            <a:ext cx="3712464" cy="4050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T0 -&gt; B -&gt; T1 -&gt; C -&gt; T2 -&gt; D -&gt; T3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每次传播可能：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改写、压缩、情绪强化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立场调整、框架重构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风格适配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传播不只是信息位置移动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也是意义的持续生成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传播与生成由串联变为耦合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生成式AI改变了什么？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4389120"/>
          </a:xfrm>
          <a:prstGeom prst="roundRect">
            <a:avLst>
              <a:gd name="adj" fmla="val 116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87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3712464" cy="3867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文本变异是偶发行为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受限于：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时间、注意力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写作成本、认知能力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改写是例外，不是常态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4389120"/>
          </a:xfrm>
          <a:prstGeom prst="roundRect">
            <a:avLst>
              <a:gd name="adj" fmla="val 1163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987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AI介入后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325880"/>
            <a:ext cx="3712464" cy="3867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变异可自动化、规模化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低成本、高拟真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 -&gt; 改写 -&gt; 传播 -&gt; 改写 -&gt; 传播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传播约等于持续生成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577840"/>
            <a:ext cx="8229600" cy="502920"/>
          </a:xfrm>
          <a:prstGeom prst="roundRect">
            <a:avLst>
              <a:gd name="adj" fmla="val 7273"/>
            </a:avLst>
          </a:prstGeom>
          <a:solidFill>
            <a:srgbClr val="F5F0EB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5961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研究切口：传播与生成高度耦合，内容不变假设被抽掉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已有研究的三个断裂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1371600"/>
          </a:xfrm>
          <a:prstGeom prst="roundRect">
            <a:avLst>
              <a:gd name="adj" fmla="val 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87552"/>
            <a:ext cx="80101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断裂一：扩散模型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801014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解决了A到B的传播，没解决信息是否还是同一信息。Granovetter阈值、SIR、独立级联都假设内容不变。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1371600"/>
          </a:xfrm>
          <a:prstGeom prst="roundRect">
            <a:avLst>
              <a:gd name="adj" fmla="val 3333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496312"/>
            <a:ext cx="80101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断裂二：群聚传播理论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834640"/>
            <a:ext cx="801014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隋岩理论回答了传播是什么、主体是谁，但缺少可计算机制模型。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8229600" cy="1371600"/>
          </a:xfrm>
          <a:prstGeom prst="roundRect">
            <a:avLst>
              <a:gd name="adj" fmla="val 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005072"/>
            <a:ext cx="80101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断裂三：GABM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4343400"/>
            <a:ext cx="801014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Jeon等(2025)的ABM管结构、LLM管内容架构割裂了结构与内容的辩证关系。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核心问题：当传播与文本生成高度耦合时，圈层传播如何被建模？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5A55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第二部分：理论立场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0" y="3474720"/>
            <a:ext cx="3657600" cy="36576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理论根基：从差序格局到群聚传播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914400"/>
            <a:ext cx="4572000" cy="292608"/>
          </a:xfrm>
          <a:prstGeom prst="roundRect">
            <a:avLst>
              <a:gd name="adj" fmla="val 125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31720" y="9326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费孝通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0" y="12070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1316736"/>
            <a:ext cx="4572000" cy="292608"/>
          </a:xfrm>
          <a:prstGeom prst="roundRect">
            <a:avLst>
              <a:gd name="adj" fmla="val 125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33502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差序格局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160934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286000" y="1719072"/>
            <a:ext cx="4572000" cy="292608"/>
          </a:xfrm>
          <a:prstGeom prst="roundRect">
            <a:avLst>
              <a:gd name="adj" fmla="val 125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7373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网络社会关系重构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20116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286000" y="2121408"/>
            <a:ext cx="4572000" cy="292608"/>
          </a:xfrm>
          <a:prstGeom prst="roundRect">
            <a:avLst>
              <a:gd name="adj" fmla="val 125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213969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趋缘/兴缘聚合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241401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286000" y="2523744"/>
            <a:ext cx="4572000" cy="292608"/>
          </a:xfrm>
          <a:prstGeom prst="roundRect">
            <a:avLst>
              <a:gd name="adj" fmla="val 125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25420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隋岩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28163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286000" y="2926080"/>
            <a:ext cx="4572000" cy="292608"/>
          </a:xfrm>
          <a:prstGeom prst="roundRect">
            <a:avLst>
              <a:gd name="adj" fmla="val 125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29443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群聚传播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32186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286000" y="3328416"/>
            <a:ext cx="4572000" cy="292608"/>
          </a:xfrm>
          <a:prstGeom prst="roundRect">
            <a:avLst>
              <a:gd name="adj" fmla="val 125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334670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文本主体/文本间性/算法互文性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362102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2286000" y="3730752"/>
            <a:ext cx="4572000" cy="292608"/>
          </a:xfrm>
          <a:prstGeom prst="roundRect">
            <a:avLst>
              <a:gd name="adj" fmla="val 125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374904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本研究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0" y="4023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2286000" y="4133088"/>
            <a:ext cx="4572000" cy="292608"/>
          </a:xfrm>
          <a:prstGeom prst="roundRect">
            <a:avLst>
              <a:gd name="adj" fmla="val 125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415137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文本生成节点/AMSI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圈层不是兴趣社区，而是围绕具体事件、文本互动动态形成的传播关系结构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我如何理解圈层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868680"/>
            <a:ext cx="7680960" cy="685800"/>
          </a:xfrm>
          <a:prstGeom prst="roundRect">
            <a:avLst>
              <a:gd name="adj" fmla="val 5333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89611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在数字传播时空中，由个体围绕共同关注的文本，通过转发、评论、改写等互动行为形成的动态关系网络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651760" cy="2560320"/>
          </a:xfrm>
          <a:prstGeom prst="roundRect">
            <a:avLst>
              <a:gd name="adj" fmla="val 17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1051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事件驱动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148840"/>
            <a:ext cx="2432304" cy="2039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不是固定社群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事件出现时快速聚集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退潮时松散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737360"/>
            <a:ext cx="2651760" cy="2560320"/>
          </a:xfrm>
          <a:prstGeom prst="roundRect">
            <a:avLst>
              <a:gd name="adj" fmla="val 1786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81051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文本中介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2148840"/>
            <a:ext cx="2432304" cy="2039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文本被看到 -&gt; 被回应 -&gt; 被改写 -&gt; 再进入传播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人通过文本连接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737360"/>
            <a:ext cx="2651760" cy="2560320"/>
          </a:xfrm>
          <a:prstGeom prst="roundRect">
            <a:avLst>
              <a:gd name="adj" fmla="val 17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81051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动态演化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44768" y="2148840"/>
            <a:ext cx="2432304" cy="2039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圈层随信息流动变化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事件可使两个圈层重叠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或使一个圈层分化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圈层不是传播的背景，而是传播过程中不断生成的结构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为什么是文本生成节点？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4114800"/>
          </a:xfrm>
          <a:prstGeom prst="roundRect">
            <a:avLst>
              <a:gd name="adj" fmla="val 116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87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传统GABM路径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3712464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-&gt; 人格/兴趣/立场/理性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行为 -&gt; 文本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内部属性无法从真实数据获得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容易为了模拟而模拟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4114800"/>
          </a:xfrm>
          <a:prstGeom prst="roundRect">
            <a:avLst>
              <a:gd name="adj" fmla="val 1163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987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我的处理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325880"/>
            <a:ext cx="3712464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真实历史文本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文本生产倾向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文本生成节点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新文本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下一轮传播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303520"/>
            <a:ext cx="8229600" cy="685800"/>
          </a:xfrm>
          <a:prstGeom prst="roundRect">
            <a:avLst>
              <a:gd name="adj" fmla="val 5333"/>
            </a:avLst>
          </a:prstGeom>
          <a:solidFill>
            <a:srgbClr val="F5F0EB"/>
          </a:solidFill>
          <a:ln w="25400">
            <a:solidFill>
              <a:srgbClr val="C5A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32180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不是用文本替代用户，而是把文本生产过程作为传播模拟的基本分析单位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文本生成节点的理论逻辑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2926080"/>
          </a:xfrm>
          <a:prstGeom prst="roundRect">
            <a:avLst>
              <a:gd name="adj" fmla="val 1724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8755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文本生产倾向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2432304" cy="2404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情绪表达、语言风格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句法、立场表达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行动指向、语义表达方式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从真实历史文本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可观察可量化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51760" cy="2926080"/>
          </a:xfrm>
          <a:prstGeom prst="roundRect">
            <a:avLst>
              <a:gd name="adj" fmla="val 1724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98755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文本变异性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55848" y="1325880"/>
            <a:ext cx="2432304" cy="2404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不同生产者稳定程度不同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有的高度稳定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有的高度适应语境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需估计个体变异性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/语境适应性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914400"/>
            <a:ext cx="2651760" cy="2926080"/>
          </a:xfrm>
          <a:prstGeom prst="roundRect">
            <a:avLst>
              <a:gd name="adj" fmla="val 1724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98755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内容选择倾向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44768" y="1325880"/>
            <a:ext cx="2432304" cy="2404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不是心理意义上的兴趣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而是从实际历史传播行为中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观察到的内容选择倾向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4114800"/>
            <a:ext cx="6400800" cy="548640"/>
          </a:xfrm>
          <a:prstGeom prst="roundRect">
            <a:avLst>
              <a:gd name="adj" fmla="val 5000"/>
            </a:avLst>
          </a:prstGeom>
          <a:solidFill>
            <a:srgbClr val="F5F0EB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41605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T(i,t+1) = f(P_i, V_i, C(i,t), T_t, H(i,t))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P: 稳定文本生产倾向  V: 文本变异性  C: 圈层情境  T: 源文本  H: 生成历史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文本生产倾向是可观察的，不需要假设心理变量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一个关键经验问题：风格究竟有多稳定？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同一个人在不同话题、不同圈层中的语言风格是否具有稳定性？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7315200" cy="457200"/>
          </a:xfrm>
          <a:prstGeom prst="roundRect">
            <a:avLst>
              <a:gd name="adj" fmla="val 8000"/>
            </a:avLst>
          </a:prstGeom>
          <a:solidFill>
            <a:srgbClr val="F5F0EB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38988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同一用户 x 不同话题 x 不同圈层    vs    不同用户 x 相同话题 x 相同圈层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2011680"/>
            <a:ext cx="6400800" cy="502920"/>
          </a:xfrm>
          <a:prstGeom prst="roundRect">
            <a:avLst>
              <a:gd name="adj" fmla="val 5455"/>
            </a:avLst>
          </a:prstGeom>
          <a:solidFill>
            <a:srgbClr val="F5F0EB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0574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Variation = Individual + Circle + Topic + Source + Time + 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2651760" cy="1828800"/>
          </a:xfrm>
          <a:prstGeom prst="roundRect">
            <a:avLst>
              <a:gd name="adj" fmla="val 25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81635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Individual &gt; Circle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154680"/>
            <a:ext cx="243230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个体稳定性更强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2743200"/>
            <a:ext cx="2651760" cy="1828800"/>
          </a:xfrm>
          <a:prstGeom prst="roundRect">
            <a:avLst>
              <a:gd name="adj" fmla="val 2500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281635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Circle &gt; Individual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3154680"/>
            <a:ext cx="243230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圈层情境塑形更强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743200"/>
            <a:ext cx="2651760" cy="1828800"/>
          </a:xfrm>
          <a:prstGeom prst="roundRect">
            <a:avLst>
              <a:gd name="adj" fmla="val 25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281635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Individual x Circle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44768" y="3154680"/>
            <a:ext cx="243230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最有意思的结果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二者共同作用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这个经验问题直接决定模型参数设定：个体倾向 vs 圈层情境的相对权重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没有真实数据，这个问题无法回答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温度不是人的自由度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868680"/>
            <a:ext cx="3657600" cy="274320"/>
          </a:xfrm>
          <a:prstGeom prst="roundRect">
            <a:avLst>
              <a:gd name="adj" fmla="val 1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8920" y="8869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80560" y="11430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1252728"/>
            <a:ext cx="3657600" cy="274320"/>
          </a:xfrm>
          <a:prstGeom prst="roundRect">
            <a:avLst>
              <a:gd name="adj" fmla="val 1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27101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估计文本变异性/稳定性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52704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0" y="1636776"/>
            <a:ext cx="3657600" cy="274320"/>
          </a:xfrm>
          <a:prstGeom prst="roundRect">
            <a:avLst>
              <a:gd name="adj" fmla="val 1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65506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模型参数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191109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743200" y="2020824"/>
            <a:ext cx="3657600" cy="274320"/>
          </a:xfrm>
          <a:prstGeom prst="roundRect">
            <a:avLst>
              <a:gd name="adj" fmla="val 1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0391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映射为生成空间/随机程度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229514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743200" y="2404872"/>
            <a:ext cx="3657600" cy="274320"/>
          </a:xfrm>
          <a:prstGeom prst="roundRect">
            <a:avLst>
              <a:gd name="adj" fmla="val 1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24231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26791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743200" y="2788920"/>
            <a:ext cx="3657600" cy="274320"/>
          </a:xfrm>
          <a:prstGeom prst="roundRect">
            <a:avLst>
              <a:gd name="adj" fmla="val 1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28072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符合经验分布的文本变体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868680"/>
            <a:ext cx="4572000" cy="9144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25400">
            <a:solidFill>
              <a:srgbClr val="C5A5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886968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temperature是模型参数，不是心理变量。它只是对真实文本变异性的一个计算表达。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2011680"/>
            <a:ext cx="4206240" cy="1097280"/>
          </a:xfrm>
          <a:prstGeom prst="roundRect">
            <a:avLst>
              <a:gd name="adj" fmla="val 4167"/>
            </a:avLst>
          </a:prstGeom>
          <a:solidFill>
            <a:srgbClr val="F5F0EB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7408" y="2084832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常见误解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07408" y="2423160"/>
            <a:ext cx="398678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temperature = 用户创造力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97680" y="3291840"/>
            <a:ext cx="4206240" cy="1097280"/>
          </a:xfrm>
          <a:prstGeom prst="roundRect">
            <a:avLst>
              <a:gd name="adj" fmla="val 4167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7408" y="3364992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正确理解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07408" y="3703320"/>
            <a:ext cx="398678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temperature = 文本变异幅度估计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5A55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第三部分：核心理论机制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0" y="3474720"/>
            <a:ext cx="3657600" cy="36576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核心理论命题：AMSI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Algorithm-Mediated Social Influence  算法中介化的社会影响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7680960" cy="777240"/>
          </a:xfrm>
          <a:prstGeom prst="roundRect">
            <a:avLst>
              <a:gd name="adj" fmla="val 4706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0700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社会结构不因算法推荐而消失，而是被算法编码为可计算的推荐特征，以可见性分配的方式间接影响传播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31920" cy="2286000"/>
          </a:xfrm>
          <a:prstGeom prst="roundRect">
            <a:avLst>
              <a:gd name="adj" fmla="val 2000"/>
            </a:avLst>
          </a:prstGeom>
          <a:solidFill>
            <a:srgbClr val="F5F0EB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26771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传统模型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3712464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-&gt; B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社会关系 -&gt; 社会影响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直接决定传播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3931920" cy="2286000"/>
          </a:xfrm>
          <a:prstGeom prst="roundRect">
            <a:avLst>
              <a:gd name="adj" fmla="val 2000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226771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AMSI模型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64608" y="2606040"/>
            <a:ext cx="3712464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社会结构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算法编码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可见性分配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文本接触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文本生成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传播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算法不是消除社会结构，而是将其重新编码为推荐特征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结构影响文本，文本又重新进入结构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AMSI的机制公式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868680"/>
            <a:ext cx="7680960" cy="548640"/>
          </a:xfrm>
          <a:prstGeom prst="roundRect">
            <a:avLst>
              <a:gd name="adj" fmla="val 5000"/>
            </a:avLst>
          </a:prstGeom>
          <a:solidFill>
            <a:srgbClr val="F5F0EB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14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R_alg(i,B) = w1*Sim(i,P_B) + w2*O_AB + w3*Sim(i,C) + w4*Pop(i) + w5*Recency(i) + b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内容匹配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Sim(i,P_B)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内容i与节点B兴趣画像的SBERT余弦相似度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圈层结构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O_AB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信息源A与目标节点B的圈层重合度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圈层语义互文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Sim(i,C)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内容i与目标圈层C已有文本集合的语义相似度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Pop(i)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当前时间窗口互动量归一化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Recency(i)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指数衰减函数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社会关系不再直接决定传播，而是通过算法进入谁更可能看到什么的过程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w2(圈层结构权重)是关键参数：圈层封闭性如何影响传播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传播机制不是一次决策，而是刺激累积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868680"/>
            <a:ext cx="7315200" cy="4572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9144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Stimulus(t+1) = Stimulus(t) * (1 - decay) + R_alg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1463040"/>
            <a:ext cx="6400800" cy="457200"/>
          </a:xfrm>
          <a:prstGeom prst="roundRect">
            <a:avLst>
              <a:gd name="adj" fmla="val 8000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481328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 Stimulus &gt;= epsilon_B  -&gt;  接受 -&gt; 改写 -&gt; 转发          否则：继续累积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931920" cy="1828800"/>
          </a:xfrm>
          <a:prstGeom prst="roundRect">
            <a:avLst>
              <a:gd name="adj" fmla="val 2500"/>
            </a:avLst>
          </a:prstGeom>
          <a:solidFill>
            <a:srgbClr val="F5F0EB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6771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传统阈值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606040"/>
            <a:ext cx="371246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邻居转发了多少？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基于社交关系观察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194560"/>
            <a:ext cx="3931920" cy="1828800"/>
          </a:xfrm>
          <a:prstGeom prst="roundRect">
            <a:avLst>
              <a:gd name="adj" fmla="val 2500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226771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AMSI阈值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64608" y="2606040"/>
            <a:ext cx="371246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算法不断给了多少可见性刺激？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基于算法推送累积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Granovetter阈值模型假设个体观察邻居行为；AMSI中个体累积算法推送的刺激强度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传播不是一瞬间的决定，而是刺激持续累积后的触发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完整传播循环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2514600" y="822960"/>
            <a:ext cx="41148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84124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社会结构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480560" y="10789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41148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20700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算法推荐 R_alg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0" y="14447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14600" y="1554480"/>
            <a:ext cx="41148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57276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文本被看见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8105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14600" y="1920240"/>
            <a:ext cx="41148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9385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节点接纳判断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0" y="21762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514600" y="2286000"/>
            <a:ext cx="41148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30428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分叉：忽略 / 接纳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25420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514600" y="2651760"/>
            <a:ext cx="41148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267004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LLM文本生成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0" y="29077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514600" y="3017520"/>
            <a:ext cx="41148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303580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新文本 T(t+1)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560" y="32735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2514600" y="3383280"/>
            <a:ext cx="41148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340156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新一轮互文关系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80560" y="36393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2514600" y="3749040"/>
            <a:ext cx="41148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37673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圈层结构变化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80560" y="40050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514600" y="4114800"/>
            <a:ext cx="41148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0" y="413308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算法重新编码（循环）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4572000"/>
            <a:ext cx="3657600" cy="457200"/>
          </a:xfrm>
          <a:prstGeom prst="rect">
            <a:avLst/>
          </a:prstGeom>
          <a:solidFill>
            <a:srgbClr val="F5F0EB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循环回到社会结构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结构影响文本，文本又重新进入结构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结构影响文本，文本又重新进入结构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关键表述修正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868680"/>
            <a:ext cx="7680960" cy="594360"/>
          </a:xfrm>
          <a:prstGeom prst="roundRect">
            <a:avLst>
              <a:gd name="adj" fmla="val 6154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8869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分析单位转向文本，生成发生于节点，算法中介文本之间的可见性与连接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智能体本体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网络角色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观测核心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Smallville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社交关系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行为类人性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MOSAIC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有向图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行为-人类对标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RumorSphere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多层关系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扩散曲线拟合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本研究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5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5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算法特征来源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5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意义变异+扩散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55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754880"/>
            <a:ext cx="8229600" cy="502920"/>
          </a:xfrm>
          <a:prstGeom prst="roundRect">
            <a:avLst>
              <a:gd name="adj" fmla="val 7273"/>
            </a:avLst>
          </a:prstGeom>
          <a:solidFill>
            <a:srgbClr val="F5F0EB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7731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别人模拟用户，我模拟文本。别人追踪信息传了多远，我追踪信息到达时变成了什么。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5A55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第四部分：研究程序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0" y="3474720"/>
            <a:ext cx="3657600" cy="36576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博士五年不是做一项研究，而是做一个研究程序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-&gt;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48840" y="1005840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02412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-&gt;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0" y="1005840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102412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-&gt;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32120" y="1005840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02412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95160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-&gt;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23760" y="1005840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02412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Counterfactual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1737360"/>
            <a:ext cx="6400800" cy="502920"/>
          </a:xfrm>
          <a:prstGeom prst="roundRect">
            <a:avLst>
              <a:gd name="adj" fmla="val 727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1755648"/>
            <a:ext cx="63093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论文1：理论建模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71600" y="2423160"/>
            <a:ext cx="6400800" cy="502920"/>
          </a:xfrm>
          <a:prstGeom prst="roundRect">
            <a:avLst>
              <a:gd name="adj" fmla="val 727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2441448"/>
            <a:ext cx="63093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论文2：真实数据经验研究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1600" y="3108960"/>
            <a:ext cx="6400800" cy="502920"/>
          </a:xfrm>
          <a:prstGeom prst="roundRect">
            <a:avLst>
              <a:gd name="adj" fmla="val 727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3127248"/>
            <a:ext cx="63093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论文3：生成式传播模型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371600" y="3794760"/>
            <a:ext cx="6400800" cy="502920"/>
          </a:xfrm>
          <a:prstGeom prst="roundRect">
            <a:avLst>
              <a:gd name="adj" fmla="val 727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3813048"/>
            <a:ext cx="63093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论文4：模型验证与机制实验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371600" y="4480560"/>
            <a:ext cx="6400800" cy="502920"/>
          </a:xfrm>
          <a:prstGeom prst="roundRect">
            <a:avLst>
              <a:gd name="adj" fmla="val 7273"/>
            </a:avLst>
          </a:prstGeom>
          <a:solidFill>
            <a:srgbClr val="C5A55A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4498848"/>
            <a:ext cx="63093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论文5：反事实/情景推演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前面论文为后面模型提供理论和经验约束，后面模型回答真实数据无法回答的反事实问题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五篇论文 = 理论 -&gt; 数据 -&gt; 模型 -&gt; 验证 -&gt; 反事实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研究一：理论论文 - 从用户传播到文本生成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868680"/>
            <a:ext cx="7680960" cy="548640"/>
          </a:xfrm>
          <a:prstGeom prst="roundRect">
            <a:avLst>
              <a:gd name="adj" fmla="val 6667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8869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在生成式社交媒体中，传播主体、传播单位和传播关系是否需要重新定义？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2743200"/>
          </a:xfrm>
          <a:prstGeom prst="roundRect">
            <a:avLst>
              <a:gd name="adj" fmla="val 1667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19072"/>
            <a:ext cx="80101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理论工作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057400"/>
            <a:ext cx="8010144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整合：群聚传播、文本主体、文本间性、算法互文性、信息扩散、GABM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提出：文本生成节点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不是模拟一个人，而是模拟一个受经验文本生产倾向约束的文本生成位置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8229600" cy="548640"/>
          </a:xfrm>
          <a:prstGeom prst="roundRect">
            <a:avLst>
              <a:gd name="adj" fmla="val 6667"/>
            </a:avLst>
          </a:prstGeom>
          <a:solidFill>
            <a:srgbClr val="F5F0EB"/>
          </a:solidFill>
          <a:ln w="25400">
            <a:solidFill>
              <a:srgbClr val="C5A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68172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预期贡献：建立生成式传播的文本本体论框架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理论不是空谈，而是为后面的数据和模型提供分析框架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研究二：真实数据 - 文本生产倾向究竟来自哪里？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2286000"/>
          </a:xfrm>
          <a:prstGeom prst="roundRect">
            <a:avLst>
              <a:gd name="adj" fmla="val 2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4183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280160"/>
            <a:ext cx="3712464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微博：AI就业 / 健康谣言 / 政策宣传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构建：User x Topic x Circle x Time 面板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3931920" cy="2286000"/>
          </a:xfrm>
          <a:prstGeom prst="roundRect">
            <a:avLst>
              <a:gd name="adj" fmla="val 2000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94183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四个核心问题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280160"/>
            <a:ext cx="3712464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Q1：个体文本风格是否稳定？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Q2：圈层是否改变文本表达？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Q3：源文本是否影响下一代文本？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Q4：个体x圈层是否存在交互？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1828800"/>
          </a:xfrm>
          <a:prstGeom prst="roundRect">
            <a:avLst>
              <a:gd name="adj" fmla="val 25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364992"/>
            <a:ext cx="80101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研究逻辑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703320"/>
            <a:ext cx="801014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不是先规定 style signature，而是：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 -&gt; 估计 style signature -&gt; 检验个体稳定性与圈层效应 -&gt; 为模型提供经验参数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不是先规定style signature，而是真实数据 -&gt; 估计style signature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研究三：构建文本生成GABM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868680"/>
            <a:ext cx="3657600" cy="274320"/>
          </a:xfrm>
          <a:prstGeom prst="roundRect">
            <a:avLst>
              <a:gd name="adj" fmla="val 1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8920" y="8869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历史文本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80560" y="11430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1252728"/>
            <a:ext cx="3657600" cy="274320"/>
          </a:xfrm>
          <a:prstGeom prst="roundRect">
            <a:avLst>
              <a:gd name="adj" fmla="val 1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27101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六维文本印迹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52704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0" y="1636776"/>
            <a:ext cx="3657600" cy="274320"/>
          </a:xfrm>
          <a:prstGeom prst="roundRect">
            <a:avLst>
              <a:gd name="adj" fmla="val 1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65506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经验分布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191109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743200" y="2020824"/>
            <a:ext cx="3657600" cy="274320"/>
          </a:xfrm>
          <a:prstGeom prst="roundRect">
            <a:avLst>
              <a:gd name="adj" fmla="val 1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0391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 Generation Node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229514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743200" y="2404872"/>
            <a:ext cx="3657600" cy="274320"/>
          </a:xfrm>
          <a:prstGeom prst="roundRect">
            <a:avLst>
              <a:gd name="adj" fmla="val 1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24231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26791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743200" y="2788920"/>
            <a:ext cx="3657600" cy="274320"/>
          </a:xfrm>
          <a:prstGeom prst="roundRect">
            <a:avLst>
              <a:gd name="adj" fmla="val 1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28072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文本变体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868680"/>
            <a:ext cx="4389120" cy="4572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914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N_i = (ID, C, state, P, V, H)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0" y="1417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P: 稳定文本生产倾向  V: 文本变异性  C: 圈层情境  H: 生成历史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89120" y="1920240"/>
            <a:ext cx="4389120" cy="1097280"/>
          </a:xfrm>
          <a:prstGeom prst="roundRect">
            <a:avLst>
              <a:gd name="adj" fmla="val 4167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1993392"/>
            <a:ext cx="41696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98848" y="2331720"/>
            <a:ext cx="416966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转发/评论形成互文网络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0" y="3108960"/>
            <a:ext cx="4389120" cy="1097280"/>
          </a:xfrm>
          <a:prstGeom prst="roundRect">
            <a:avLst>
              <a:gd name="adj" fmla="val 4167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98848" y="3182112"/>
            <a:ext cx="41696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98848" y="3520440"/>
            <a:ext cx="416966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AMSI 算法中介化社会影响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4297680"/>
            <a:ext cx="4389120" cy="1097280"/>
          </a:xfrm>
          <a:prstGeom prst="roundRect">
            <a:avLst>
              <a:gd name="adj" fmla="val 4167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98848" y="4370832"/>
            <a:ext cx="41696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98848" y="4709160"/>
            <a:ext cx="416966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阈值感染模型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研究四：先证明这个模型像现实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4114800"/>
          </a:xfrm>
          <a:prstGeom prst="roundRect">
            <a:avLst>
              <a:gd name="adj" fmla="val 1724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8755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微观（文本）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2432304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生成文本是否复现真实节点的：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立场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行动指向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51760" cy="4114800"/>
          </a:xfrm>
          <a:prstGeom prst="roundRect">
            <a:avLst>
              <a:gd name="adj" fmla="val 1724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98755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中观（网络）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55848" y="1325880"/>
            <a:ext cx="2432304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仿真网络是否复现：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度分布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路径长度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模体结构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圈层结构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914400"/>
            <a:ext cx="2651760" cy="4114800"/>
          </a:xfrm>
          <a:prstGeom prst="roundRect">
            <a:avLst>
              <a:gd name="adj" fmla="val 1724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98755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宏观（传播）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44768" y="1325880"/>
            <a:ext cx="2432304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是否复现：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传播规模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传播速度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累积传播曲线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峰值时间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三层验证：文本像不像 -&gt; 网络像不像 -&gt; 传播像不像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校准和验证必须严格分开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590800" cy="548640"/>
          </a:xfrm>
          <a:prstGeom prst="roundRect">
            <a:avLst>
              <a:gd name="adj" fmla="val 6667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2499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Calibration（真实数据前70%）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4800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-&gt;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97280"/>
            <a:ext cx="2590800" cy="548640"/>
          </a:xfrm>
          <a:prstGeom prst="roundRect">
            <a:avLst>
              <a:gd name="adj" fmla="val 6667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22320" y="1115568"/>
            <a:ext cx="2499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Simulation（生成传播）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6740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-&gt;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6000" y="1097280"/>
            <a:ext cx="2590800" cy="548640"/>
          </a:xfrm>
          <a:prstGeom prst="roundRect">
            <a:avLst>
              <a:gd name="adj" fmla="val 6667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1720" y="1115568"/>
            <a:ext cx="2499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Validation（后30%+未参与议题）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3931920" cy="1828800"/>
          </a:xfrm>
          <a:prstGeom prst="roundRect">
            <a:avLst>
              <a:gd name="adj" fmla="val 2500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08483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2423160"/>
            <a:ext cx="371246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Simulation vs Reality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用未参与校准的数据验证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011680"/>
            <a:ext cx="3931920" cy="1828800"/>
          </a:xfrm>
          <a:prstGeom prst="roundRect">
            <a:avLst>
              <a:gd name="adj" fmla="val 2500"/>
            </a:avLst>
          </a:prstGeom>
          <a:solidFill>
            <a:srgbClr val="F5F0EB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08483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错误做法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64608" y="2423160"/>
            <a:ext cx="371246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Simulation vs Data used to build Simulation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循环验证，没有泛化能力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只有用未参与校准的数据验证，才能证明模型的泛化能力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研究五：鲁棒性不是附属实验，而是模型可信度的一部分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2103120"/>
          </a:xfrm>
          <a:prstGeom prst="roundRect">
            <a:avLst>
              <a:gd name="adj" fmla="val 2174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87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参数鲁棒性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3712464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 +20%, +40%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观察：结果方向是否一致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2103120"/>
          </a:xfrm>
          <a:prstGeom prst="roundRect">
            <a:avLst>
              <a:gd name="adj" fmla="val 2174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987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网络鲁棒性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325880"/>
            <a:ext cx="3712464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随机删除 5%, 10%, 15%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观察：传播结构是否稳定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3931920" cy="2103120"/>
          </a:xfrm>
          <a:prstGeom prst="roundRect">
            <a:avLst>
              <a:gd name="adj" fmla="val 2174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273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Prompt/Model鲁棒性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611880"/>
            <a:ext cx="3712464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比较：GPT / Qwen大模型 / Qwen轻量模型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观察：不同LLM是否一致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200400"/>
            <a:ext cx="3931920" cy="2103120"/>
          </a:xfrm>
          <a:prstGeom prst="roundRect">
            <a:avLst>
              <a:gd name="adj" fmla="val 2174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3273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跨议题鲁棒性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64608" y="3611880"/>
            <a:ext cx="3712464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AI就业 / 健康谣言 / 政策宣传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观察：机制是否跨议题稳定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核心机制在不同场景下方向一致，说明不是单一议题的偶然结果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从复现现实到实验现实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1828800"/>
          </a:xfrm>
          <a:prstGeom prst="roundRect">
            <a:avLst>
              <a:gd name="adj" fmla="val 2000"/>
            </a:avLst>
          </a:prstGeom>
          <a:solidFill>
            <a:srgbClr val="F5F0EB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真实数据能回答的问题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现实中发生了什么？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传播路径、传播规模、文本变异模式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828800"/>
          </a:xfrm>
          <a:prstGeom prst="roundRect">
            <a:avLst>
              <a:gd name="adj" fmla="val 2000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经过校准的GABM能进一步回答的问题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如果传播环境发生改变，会发生什么？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反事实问题、参数操纵、情景推演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120640"/>
            <a:ext cx="8229600" cy="548640"/>
          </a:xfrm>
          <a:prstGeom prst="roundRect">
            <a:avLst>
              <a:gd name="adj" fmla="val 6667"/>
            </a:avLst>
          </a:prstGeom>
          <a:solidFill>
            <a:srgbClr val="F5F0EB"/>
          </a:solidFill>
          <a:ln w="25400">
            <a:solidFill>
              <a:srgbClr val="C5A5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13892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需要GABM是为了回答真实数据无法回答的反事实问题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参数操纵：研究真实数据无法回答的问题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1005840"/>
          </a:xfrm>
          <a:prstGeom prst="roundRect">
            <a:avLst>
              <a:gd name="adj" fmla="val 4545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41832"/>
            <a:ext cx="80101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圈层封闭程度 O_AB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280160"/>
            <a:ext cx="801014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 -&gt; high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观察：跨圈传播、信息覆盖、传播速度、文本分化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1005840"/>
          </a:xfrm>
          <a:prstGeom prst="roundRect">
            <a:avLst>
              <a:gd name="adj" fmla="val 4545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130552"/>
            <a:ext cx="80101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文本适应性 V_i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468880"/>
            <a:ext cx="801014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 -&gt; high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观察：文本越会说圈层语言是否越容易跨圈传播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8229600" cy="1005840"/>
          </a:xfrm>
          <a:prstGeom prst="roundRect">
            <a:avLst>
              <a:gd name="adj" fmla="val 4545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319272"/>
            <a:ext cx="80101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算法推荐权重 w2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657600"/>
            <a:ext cx="801014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0 -&gt; 1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观察：算法越依赖圈层相关特征时传播结构如何变化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8229600" cy="1005840"/>
          </a:xfrm>
          <a:prstGeom prst="roundRect">
            <a:avLst>
              <a:gd name="adj" fmla="val 4545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507992"/>
            <a:ext cx="80101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AI文本生成介入程度 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4846320"/>
            <a:ext cx="801014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0 -&gt; 1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观察：改写成本趋零时传播机制是否结构性变化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我真正感兴趣的反事实问题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78408"/>
            <a:ext cx="801014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圈层越封闭，信息越难传播，还是内部传播越强？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72768"/>
            <a:ext cx="801014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文本越适应圈层，是否越容易跨圈传播？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C5A55A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67128"/>
            <a:ext cx="801014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文本适应性提高，会不会出现传播成功-意义分化悖论？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重点展开第三个问题：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181100" cy="411480"/>
          </a:xfrm>
          <a:prstGeom prst="roundRect">
            <a:avLst>
              <a:gd name="adj" fmla="val 8889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18688"/>
            <a:ext cx="10896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高适应性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38300" y="32689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-&gt;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66900" y="3200400"/>
            <a:ext cx="1181100" cy="411480"/>
          </a:xfrm>
          <a:prstGeom prst="roundRect">
            <a:avLst>
              <a:gd name="adj" fmla="val 8889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12620" y="3218688"/>
            <a:ext cx="10896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更容易进入圈层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48000" y="32689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-&gt;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76600" y="3200400"/>
            <a:ext cx="1181100" cy="411480"/>
          </a:xfrm>
          <a:prstGeom prst="roundRect">
            <a:avLst>
              <a:gd name="adj" fmla="val 8889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2320" y="3218688"/>
            <a:ext cx="10896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更容易被接受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57700" y="32689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-&gt;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86300" y="3200400"/>
            <a:ext cx="1181100" cy="411480"/>
          </a:xfrm>
          <a:prstGeom prst="roundRect">
            <a:avLst>
              <a:gd name="adj" fmla="val 8889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2020" y="3218688"/>
            <a:ext cx="10896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传播规模上升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67400" y="32689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-&gt;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96000" y="3200400"/>
            <a:ext cx="1181100" cy="411480"/>
          </a:xfrm>
          <a:prstGeom prst="roundRect">
            <a:avLst>
              <a:gd name="adj" fmla="val 8889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1720" y="3218688"/>
            <a:ext cx="10896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文本不断适配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77100" y="32689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-&gt;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505700" y="3200400"/>
            <a:ext cx="1181100" cy="411480"/>
          </a:xfrm>
          <a:prstGeom prst="roundRect">
            <a:avLst>
              <a:gd name="adj" fmla="val 8889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51420" y="3218688"/>
            <a:ext cx="10896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语义偏离原始文本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502920"/>
          </a:xfrm>
          <a:prstGeom prst="roundRect">
            <a:avLst>
              <a:gd name="adj" fmla="val 7273"/>
            </a:avLst>
          </a:prstGeom>
          <a:solidFill>
            <a:srgbClr val="F5F0EB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50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传播效率提高，但意义保持率下降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传播成功 - 意义分化悖论：传播越好，意义偏离越远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5A55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第五部分：技术实现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0" y="3474720"/>
            <a:ext cx="3657600" cy="36576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真实数据如何变成模型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822960"/>
            <a:ext cx="45720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31720" y="84124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真实微博数据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480560" y="10789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1188720"/>
            <a:ext cx="45720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20700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文本清洗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0" y="14447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286000" y="1554480"/>
            <a:ext cx="45720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5727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互文网络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8105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286000" y="1920240"/>
            <a:ext cx="45720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193852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圈层识别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0" y="21762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286000" y="2286000"/>
            <a:ext cx="45720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230428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文本六维印迹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25420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286000" y="2651760"/>
            <a:ext cx="45720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267004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个体文本生产倾向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0" y="29077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286000" y="3017520"/>
            <a:ext cx="45720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303580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文本变异性估计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560" y="32735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2286000" y="3383280"/>
            <a:ext cx="45720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34015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经验参数分布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80560" y="36393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2286000" y="3749040"/>
            <a:ext cx="45720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376732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 Generation Node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80560" y="40050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286000" y="4114800"/>
            <a:ext cx="4572000" cy="256032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31720" y="413308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GABM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模型参数不是研究者拍脑袋设定，而是尽可能从真实数据中估计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互文网络与圈层识别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3657600"/>
          </a:xfrm>
          <a:prstGeom prst="roundRect">
            <a:avLst>
              <a:gd name="adj" fmla="val 1250"/>
            </a:avLst>
          </a:prstGeom>
          <a:solidFill>
            <a:srgbClr val="F5F0EB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87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为什么不用关注网络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3712464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关注：用户 -&gt; 用户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是稳定的社会关系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不是传播关系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657600"/>
          </a:xfrm>
          <a:prstGeom prst="roundRect">
            <a:avLst>
              <a:gd name="adj" fmla="val 1250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987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转发/评论网络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325880"/>
            <a:ext cx="3712464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转发/评论：文本 -&gt; 文本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如果B转发A，则 A -&gt; B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是文本间性关系的经验痕迹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8229600" cy="548640"/>
          </a:xfrm>
          <a:prstGeom prst="roundRect">
            <a:avLst>
              <a:gd name="adj" fmla="val 6667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86460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之后用 Louvain / Leiden 识别动态圈层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网络是文本间性的经验痕迹，不是静态社会关系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六维文本印迹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SBERT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文本间性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TTR / Distinct / 句法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文本间性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BERTopic + 分类器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叙事性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RoBERTa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叙事性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LIWC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情感性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行动指向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5A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言语行为分类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371600" y="4754880"/>
            <a:ext cx="6400800" cy="502920"/>
          </a:xfrm>
          <a:prstGeom prst="roundRect">
            <a:avLst>
              <a:gd name="adj" fmla="val 5455"/>
            </a:avLst>
          </a:prstGeom>
          <a:solidFill>
            <a:srgbClr val="F5F0EB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3040" y="48006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v_t = (d_sem, d_sty, d_fra, d_sta, d_emo, d_act)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六维印迹是文本生成节点的经验基础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Text Generation Node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914400"/>
            <a:ext cx="6400800" cy="640080"/>
          </a:xfrm>
          <a:prstGeom prst="roundRect">
            <a:avLst>
              <a:gd name="adj" fmla="val 4286"/>
            </a:avLst>
          </a:prstGeom>
          <a:solidFill>
            <a:srgbClr val="F5F0EB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9601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Agent_v = (ID, C, state, P, V, H)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ID: 标识符    C: 圈层    state: 传播状态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P: 文本生产倾向    V: 文本变异性    H: 生成历史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7315200" cy="548640"/>
          </a:xfrm>
          <a:prstGeom prst="roundRect">
            <a:avLst>
              <a:gd name="adj" fmla="val 5000"/>
            </a:avLst>
          </a:prstGeom>
          <a:solidFill>
            <a:srgbClr val="F5F0EB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5146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T(t+1) = LLM(T_t, P_i, V_i, C_t, H_t)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T_t: 源文本    P_i: 个体生产倾向    V_i: 个体变异性    C_t: 圈层情境    H_t: 生成历史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1645920"/>
          </a:xfrm>
          <a:prstGeom prst="roundRect">
            <a:avLst>
              <a:gd name="adj" fmla="val 2778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822192"/>
            <a:ext cx="80101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4160520"/>
            <a:ext cx="801014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每一次传播不是复制原文本，而是基于源文本、生产倾向和圈层情境生成新文本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文本变异性 V_i 控制生成空间的随机程度，对应 LLM 的 temperature 参数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 = 生成，不是传播 = 复制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Demo：从理论到计算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2011680"/>
          </a:xfrm>
          <a:prstGeom prst="roundRect">
            <a:avLst>
              <a:gd name="adj" fmla="val 227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87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Algorithm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3712464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 R_alg 五个组成部分的实时计算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2011680"/>
          </a:xfrm>
          <a:prstGeom prst="roundRect">
            <a:avLst>
              <a:gd name="adj" fmla="val 2273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987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Threshold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325880"/>
            <a:ext cx="3712464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 stimulus 累积过程和触发条件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3931920" cy="2011680"/>
          </a:xfrm>
          <a:prstGeom prst="roundRect">
            <a:avLst>
              <a:gd name="adj" fmla="val 227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273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Text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611880"/>
            <a:ext cx="3712464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显示原文本 -&gt; 改写文本的生成过程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3200400"/>
            <a:ext cx="3931920" cy="2011680"/>
          </a:xfrm>
          <a:prstGeom prst="roundRect">
            <a:avLst>
              <a:gd name="adj" fmla="val 2273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3273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Circle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64608" y="3611880"/>
            <a:ext cx="3712464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显示不同圈层之间的传播路径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577840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5F0EB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59612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这个Demo不是最终模型，而是把理论机制做成了一个可运行的最小原型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正式模型与Demo的区别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Demo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正式研究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A5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圈层预分配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真实互文网络识别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四维风格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六维文本印迹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固定参数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真实数据估计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简化LLM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经验约束生成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二元消融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连续参数实验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单一场景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跨议题验证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展示传播过程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微-中-宏三层验证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Demo证明可以运行；正式研究需要证明为什么这样运行及运行结果是否符合现实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Demo是原型，正式研究是验证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5A55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第六部分：方法学验证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0" y="3474720"/>
            <a:ext cx="3657600" cy="36576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模型验证体系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097280"/>
            <a:ext cx="6400800" cy="5029200"/>
          </a:xfrm>
          <a:prstGeom prst="ellipse">
            <a:avLst/>
          </a:prstGeom>
          <a:solidFill>
            <a:srgbClr val="8B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1828800"/>
            <a:ext cx="4572000" cy="3566160"/>
          </a:xfrm>
          <a:prstGeom prst="ellipse">
            <a:avLst/>
          </a:prstGeom>
          <a:solidFill>
            <a:srgbClr val="C5A5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560320"/>
            <a:ext cx="2743200" cy="2103120"/>
          </a:xfrm>
          <a:prstGeom prst="ellipse">
            <a:avLst/>
          </a:prstGeom>
          <a:solidFill>
            <a:srgbClr val="F5F0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Macro（传播）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传播曲线像不像现实？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Meso（网络）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传播结构像不像现实？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Micro（文本）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生成文本像不像真实文本？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 -&gt; Network -&gt; Diffusion 而不是只看最终传播规模对不对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消融实验：我要知道为什么模型有效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548640"/>
          </a:xfrm>
          <a:prstGeom prst="roundRect">
            <a:avLst>
              <a:gd name="adj" fmla="val 6667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86968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去掉LLM -&gt; 模板文本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548640"/>
          </a:xfrm>
          <a:prstGeom prst="roundRect">
            <a:avLst>
              <a:gd name="adj" fmla="val 6667"/>
            </a:avLst>
          </a:prstGeom>
          <a:solidFill>
            <a:srgbClr val="EBE0D5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去掉互文网络 -&gt; ER随机网络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548640"/>
          </a:xfrm>
          <a:prstGeom prst="roundRect">
            <a:avLst>
              <a:gd name="adj" fmla="val 6667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58568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去掉生成历史 -&gt; 无memory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548640"/>
          </a:xfrm>
          <a:prstGeom prst="roundRect">
            <a:avLst>
              <a:gd name="adj" fmla="val 6667"/>
            </a:avLst>
          </a:prstGeom>
          <a:solidFill>
            <a:srgbClr val="EBE0D5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44368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去掉个体异质性 -&gt; 统一文本生产倾向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8229600" cy="548640"/>
          </a:xfrm>
          <a:prstGeom prst="roundRect">
            <a:avLst>
              <a:gd name="adj" fmla="val 6667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30168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E. 去掉圈层算法特征 -&gt; w2=0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8229600" cy="548640"/>
          </a:xfrm>
          <a:prstGeom prst="roundRect">
            <a:avLst>
              <a:gd name="adj" fmla="val 6667"/>
            </a:avLst>
          </a:prstGeom>
          <a:solidFill>
            <a:srgbClr val="EBE0D5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F. 去掉文本适配 -&gt; alpha=0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哪个机制被去掉后现实拟合能力显著下降？这才是真正的机制识别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从消融进入参数实验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3200400"/>
          </a:xfrm>
          <a:prstGeom prst="roundRect">
            <a:avLst>
              <a:gd name="adj" fmla="val 1724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7043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消融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508760"/>
            <a:ext cx="2432304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有/无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回答：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这个机制重要吗？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3200400"/>
          </a:xfrm>
          <a:prstGeom prst="roundRect">
            <a:avLst>
              <a:gd name="adj" fmla="val 1724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17043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参数扫描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55848" y="1508760"/>
            <a:ext cx="2432304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0 -&gt; 1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回答：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这个机制怎样发挥作用？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3200400"/>
          </a:xfrm>
          <a:prstGeom prst="roundRect">
            <a:avLst>
              <a:gd name="adj" fmla="val 1724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117043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极端扰动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44768" y="1508760"/>
            <a:ext cx="2432304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极端值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鲁棒性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这三个层级不要混在一起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消融问重要吗，参数扫描问怎样，扰动问稳定吗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博士论文最终形成的逻辑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57400" y="91440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93268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91440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93268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经验规律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57800" y="91440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93268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参数化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91440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93268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生成式模型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75320" y="1280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169164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7099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现实复现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57400" y="169164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17099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鲁棒性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0" y="169164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17099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参数操纵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57800" y="169164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7099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反事实实验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169164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17099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理论修正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46888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EBE0D5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4871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圈层结构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57400" y="246888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EBE0D5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24871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算法编码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0" y="246888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EBE0D5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24871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可见性分配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57800" y="246888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EBE0D5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4871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0" y="246888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EBE0D5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24871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文本生成节点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75320" y="2834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457200" y="324612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EBE0D5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2644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LLM生成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057400" y="324612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EBE0D5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03120" y="32644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新文本T(t+1)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0" y="324612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EBE0D5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03320" y="32644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转发/评论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257800" y="324612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EBE0D5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0" y="32644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新关系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58000" y="324612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EBE0D5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32644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新圈层(循环)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931920"/>
            <a:ext cx="8229600" cy="1371600"/>
          </a:xfrm>
          <a:prstGeom prst="roundRect">
            <a:avLst>
              <a:gd name="adj" fmla="val 2667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最终理论框架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40080" y="42976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圈层结构 -&gt; 算法编码 -&gt; 可见性分配+圈层语境 -&gt; 文本 -&gt; 文本生成节点(源文本+生产倾向+历史)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LLM生成 -&gt; 新文本T(t+1) -&gt; 转发/评论 -&gt; 新关系 -&gt; 新圈层(循环)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371600" y="5486400"/>
            <a:ext cx="6400800" cy="548640"/>
          </a:xfrm>
          <a:prstGeom prst="roundRect">
            <a:avLst>
              <a:gd name="adj" fmla="val 6667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54480" y="550468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A55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传播改变文本，文本反过来改变传播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5A55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第七部分：博士五年计划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0" y="3474720"/>
            <a:ext cx="3657600" cy="36576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五年研究路线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286000"/>
            <a:ext cx="8229600" cy="0"/>
          </a:xfrm>
          <a:prstGeom prst="line">
            <a:avLst/>
          </a:prstGeom>
          <a:noFill/>
          <a:ln w="38100">
            <a:solidFill>
              <a:srgbClr val="8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148840"/>
            <a:ext cx="274320" cy="274320"/>
          </a:xfrm>
          <a:prstGeom prst="ellipse">
            <a:avLst/>
          </a:prstGeom>
          <a:solidFill>
            <a:srgbClr val="C5A55A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645920" cy="1371600"/>
          </a:xfrm>
          <a:prstGeom prst="roundRect">
            <a:avLst>
              <a:gd name="adj" fmla="val 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761488"/>
            <a:ext cx="1426464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论文1 理论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论文2 真实数据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2148840"/>
            <a:ext cx="274320" cy="274320"/>
          </a:xfrm>
          <a:prstGeom prst="ellipse">
            <a:avLst/>
          </a:prstGeom>
          <a:solidFill>
            <a:srgbClr val="C5A55A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554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2027-2028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2651760"/>
            <a:ext cx="1645920" cy="1371600"/>
          </a:xfrm>
          <a:prstGeom prst="roundRect">
            <a:avLst>
              <a:gd name="adj" fmla="val 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2761488"/>
            <a:ext cx="1426464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论文3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 Generation Node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AMSI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274320" cy="274320"/>
          </a:xfrm>
          <a:prstGeom prst="ellipse">
            <a:avLst/>
          </a:prstGeom>
          <a:solidFill>
            <a:srgbClr val="C5A55A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554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2651760"/>
            <a:ext cx="1645920" cy="1371600"/>
          </a:xfrm>
          <a:prstGeom prst="roundRect">
            <a:avLst>
              <a:gd name="adj" fmla="val 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2761488"/>
            <a:ext cx="1426464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论文4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经验校准与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机制验证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2148840"/>
            <a:ext cx="274320" cy="274320"/>
          </a:xfrm>
          <a:prstGeom prst="ellipse">
            <a:avLst/>
          </a:prstGeom>
          <a:solidFill>
            <a:srgbClr val="C5A55A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554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2028-2029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651760"/>
            <a:ext cx="1645920" cy="1371600"/>
          </a:xfrm>
          <a:prstGeom prst="roundRect">
            <a:avLst>
              <a:gd name="adj" fmla="val 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2761488"/>
            <a:ext cx="1426464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论文5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反事实机制研究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46720" y="2148840"/>
            <a:ext cx="274320" cy="274320"/>
          </a:xfrm>
          <a:prstGeom prst="ellipse">
            <a:avLst/>
          </a:prstGeom>
          <a:solidFill>
            <a:srgbClr val="C5A55A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554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2029-2030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2651760"/>
            <a:ext cx="1645920" cy="1371600"/>
          </a:xfrm>
          <a:prstGeom prst="roundRect">
            <a:avLst>
              <a:gd name="adj" fmla="val 3333"/>
            </a:avLst>
          </a:prstGeom>
          <a:solidFill>
            <a:srgbClr val="C5A55A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9248" y="2761488"/>
            <a:ext cx="1426464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博士论文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理论整合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3-4篇论文不是为了凑数量，而是完整研究程序自然产生的结果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每年一篇论文，每篇论文解决一个递进问题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论文之间不是并列，而是递进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3200400" cy="502920"/>
          </a:xfrm>
          <a:prstGeom prst="roundRect">
            <a:avLst>
              <a:gd name="adj" fmla="val 727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86968"/>
            <a:ext cx="31089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论文1 理论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49040" y="960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-&gt;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822960"/>
            <a:ext cx="4572000" cy="594360"/>
          </a:xfrm>
          <a:prstGeom prst="roundRect">
            <a:avLst>
              <a:gd name="adj" fmla="val 7692"/>
            </a:avLst>
          </a:prstGeom>
          <a:solidFill>
            <a:srgbClr val="F5F0EB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24528" y="932688"/>
            <a:ext cx="435254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为什么要用文本生成节点？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65960" y="13716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3200400" cy="502920"/>
          </a:xfrm>
          <a:prstGeom prst="roundRect">
            <a:avLst>
              <a:gd name="adj" fmla="val 727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64208"/>
            <a:ext cx="31089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论文2 经验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-&gt;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0" y="1600200"/>
            <a:ext cx="4572000" cy="594360"/>
          </a:xfrm>
          <a:prstGeom prst="roundRect">
            <a:avLst>
              <a:gd name="adj" fmla="val 7692"/>
            </a:avLst>
          </a:prstGeom>
          <a:solidFill>
            <a:srgbClr val="F5F0EB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4528" y="1709928"/>
            <a:ext cx="435254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真实文本有什么稳定性和变异性？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2148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3200400" cy="502920"/>
          </a:xfrm>
          <a:prstGeom prst="roundRect">
            <a:avLst>
              <a:gd name="adj" fmla="val 727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41448"/>
            <a:ext cx="31089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论文3 模型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-&gt;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0" y="2377440"/>
            <a:ext cx="4572000" cy="594360"/>
          </a:xfrm>
          <a:prstGeom prst="roundRect">
            <a:avLst>
              <a:gd name="adj" fmla="val 7692"/>
            </a:avLst>
          </a:prstGeom>
          <a:solidFill>
            <a:srgbClr val="F5F0EB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24528" y="2487168"/>
            <a:ext cx="435254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如何把规律参数化？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65960" y="29260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3200400" cy="502920"/>
          </a:xfrm>
          <a:prstGeom prst="roundRect">
            <a:avLst>
              <a:gd name="adj" fmla="val 727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18688"/>
            <a:ext cx="31089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论文4 验证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4904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-&gt;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14800" y="3154680"/>
            <a:ext cx="4572000" cy="594360"/>
          </a:xfrm>
          <a:prstGeom prst="roundRect">
            <a:avLst>
              <a:gd name="adj" fmla="val 7692"/>
            </a:avLst>
          </a:prstGeom>
          <a:solidFill>
            <a:srgbClr val="F5F0EB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24528" y="3264408"/>
            <a:ext cx="435254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模型能否重现现实规律？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65960" y="3703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3200400" cy="502920"/>
          </a:xfrm>
          <a:prstGeom prst="roundRect">
            <a:avLst>
              <a:gd name="adj" fmla="val 727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95928"/>
            <a:ext cx="31089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论文5 反事实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49040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-&gt;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114800" y="3931920"/>
            <a:ext cx="4572000" cy="594360"/>
          </a:xfrm>
          <a:prstGeom prst="roundRect">
            <a:avLst>
              <a:gd name="adj" fmla="val 7692"/>
            </a:avLst>
          </a:prstGeom>
          <a:solidFill>
            <a:srgbClr val="F5F0EB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24528" y="4041648"/>
            <a:ext cx="435254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改变条件后会发生什么？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965960" y="44805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|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57200" y="4754880"/>
            <a:ext cx="3200400" cy="502920"/>
          </a:xfrm>
          <a:prstGeom prst="roundRect">
            <a:avLst>
              <a:gd name="adj" fmla="val 7273"/>
            </a:avLst>
          </a:prstGeom>
          <a:solidFill>
            <a:srgbClr val="C5A55A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773168"/>
            <a:ext cx="31089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博士论文 理论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749040" y="4846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-&gt;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114800" y="4709160"/>
            <a:ext cx="4572000" cy="594360"/>
          </a:xfrm>
          <a:prstGeom prst="roundRect">
            <a:avLst>
              <a:gd name="adj" fmla="val 7692"/>
            </a:avLst>
          </a:prstGeom>
          <a:solidFill>
            <a:srgbClr val="FFF5E6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24528" y="4818888"/>
            <a:ext cx="435254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重新理解生成式环境下的信息扩散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5A55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第八部分：与许小可老师方向对接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0" y="3474720"/>
            <a:ext cx="3657600" cy="36576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为什么我希望在许老师这里做这个研究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4114800"/>
          </a:xfrm>
          <a:prstGeom prst="roundRect">
            <a:avLst>
              <a:gd name="adj" fmla="val 1724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8755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网络结构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2432304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许老师团队：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模体度 -&gt; 传播结构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我的研究：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模体度 -&gt; 圈层结构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传播机制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51760" cy="4114800"/>
          </a:xfrm>
          <a:prstGeom prst="roundRect">
            <a:avLst>
              <a:gd name="adj" fmla="val 1724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98755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动态传播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55848" y="1325880"/>
            <a:ext cx="2432304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许老师团队：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网络结构动态分析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我的研究：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网络结构 + 文本演化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同步追踪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914400"/>
            <a:ext cx="2651760" cy="4114800"/>
          </a:xfrm>
          <a:prstGeom prst="roundRect">
            <a:avLst>
              <a:gd name="adj" fmla="val 1724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98755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社交机器人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44768" y="1325880"/>
            <a:ext cx="2432304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许老师团队：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我的研究：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-&gt; 检测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仿真数据作为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检测测试数据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不是简单套用模体度，而是把网络结构指标放进生成式传播机制中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结构测量 + 文本生成 + 传播机制 = 交叉创新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我和许老师团队的关系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87552"/>
            <a:ext cx="80101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我的主线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80101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传播机制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39112"/>
            <a:ext cx="80101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许老师团队提供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377440"/>
            <a:ext cx="80101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结构测量工具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090672"/>
            <a:ext cx="80101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我的扩展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429000"/>
            <a:ext cx="80101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从结构描述走向机制模拟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4297680"/>
            <a:ext cx="6400800" cy="731520"/>
          </a:xfrm>
          <a:prstGeom prst="roundRect">
            <a:avLst>
              <a:gd name="adj" fmla="val 5000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4315968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  -&gt;  Mechanism  -&gt;  Simulation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从结构描述到机制模拟，这是博士论文的核心推进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可能的风险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1005840"/>
          </a:xfrm>
          <a:prstGeom prst="roundRect">
            <a:avLst>
              <a:gd name="adj" fmla="val 4545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4183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280160"/>
            <a:ext cx="371246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文本生成节点是否只是用户节点换名？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3931920" cy="1005840"/>
          </a:xfrm>
          <a:prstGeom prst="roundRect">
            <a:avLst>
              <a:gd name="adj" fmla="val 4545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94183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280160"/>
            <a:ext cx="371246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用真实数据检验个体稳定性与圈层情境效应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3931920" cy="1005840"/>
          </a:xfrm>
          <a:prstGeom prst="roundRect">
            <a:avLst>
              <a:gd name="adj" fmla="val 4545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30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2468880"/>
            <a:ext cx="371246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圈层结构是传播结果还是原因？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057400"/>
            <a:ext cx="3931920" cy="1005840"/>
          </a:xfrm>
          <a:prstGeom prst="roundRect">
            <a:avLst>
              <a:gd name="adj" fmla="val 4545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213055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64608" y="2468880"/>
            <a:ext cx="371246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时间分层、先行结构、动态网络与参数操纵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3931920" cy="1005840"/>
          </a:xfrm>
          <a:prstGeom prst="roundRect">
            <a:avLst>
              <a:gd name="adj" fmla="val 4545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31927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3657600"/>
            <a:ext cx="371246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LLM是否只是随机文本生成器？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3931920" cy="1005840"/>
          </a:xfrm>
          <a:prstGeom prst="roundRect">
            <a:avLst>
              <a:gd name="adj" fmla="val 4545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331927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64608" y="3657600"/>
            <a:ext cx="371246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经验分布校准 + style adaptation消融 + 多模型鲁棒性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3931920" cy="1005840"/>
          </a:xfrm>
          <a:prstGeom prst="roundRect">
            <a:avLst>
              <a:gd name="adj" fmla="val 4545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50799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" y="4846320"/>
            <a:ext cx="371246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模型是否只是重新拟合现实数据？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4434840"/>
            <a:ext cx="3931920" cy="1005840"/>
          </a:xfrm>
          <a:prstGeom prst="roundRect">
            <a:avLst>
              <a:gd name="adj" fmla="val 4545"/>
            </a:avLst>
          </a:prstGeom>
          <a:solidFill>
            <a:srgbClr val="F5F0EB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450799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64608" y="4846320"/>
            <a:ext cx="371246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calibration/validation分离 + cross-topic + 反事实实验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每个风险都有对应的检验方案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我现在最需要老师指导的三个问题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1371600"/>
          </a:xfrm>
          <a:prstGeom prst="roundRect">
            <a:avLst>
              <a:gd name="adj" fmla="val 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24128"/>
            <a:ext cx="8010144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文本生成节点：在实际数据中，如何更好地区分个体稳定文本生产倾向和圈层情境对文本的塑造？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3333"/>
            </a:avLst>
          </a:prstGeom>
          <a:solidFill>
            <a:srgbClr val="F5F0EB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578608"/>
            <a:ext cx="8010144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模型验证：对生成式传播模型，微观文本、中观网络、宏观扩散三层验证是否足以构成有效性证据？还需要怎样的经验校准？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8229600" cy="1371600"/>
          </a:xfrm>
          <a:prstGeom prst="roundRect">
            <a:avLst>
              <a:gd name="adj" fmla="val 3333"/>
            </a:avLst>
          </a:prstGeom>
          <a:solidFill>
            <a:srgbClr val="FFF5E6"/>
          </a:solidFill>
          <a:ln w="19050">
            <a:solidFill>
              <a:srgbClr val="C5A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133088"/>
            <a:ext cx="8010144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反事实实验：模型通过校准后，哪些参数操纵最有理论价值？应优先研究圈层结构、文本适应性，还是算法推荐机制？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6217920"/>
            <a:ext cx="822960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62362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这三个问题决定了博士论文的质量和深度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我真正想解决什么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2273"/>
            </a:avLst>
          </a:prstGeom>
          <a:solidFill>
            <a:srgbClr val="F5F0EB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8016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我想研究的不是信息如何传播，</a:t>
            </a:r>
            <a:endParaRPr lang="en-US" sz="2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而是信息在传播过程中如何不断变成新的信息。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传统扩散研究关注信息的位置变化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我的研究希望进一步关注信息的意义变化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4572000"/>
            <a:ext cx="6400800" cy="548640"/>
          </a:xfrm>
          <a:prstGeom prst="roundRect">
            <a:avLst>
              <a:gd name="adj" fmla="val 6667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459028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A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Visibility  -&gt;  Generation  -&gt;  Diffusion  -&gt;  Meaning Evolution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感谢许老师指导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0" y="6035040"/>
            <a:ext cx="1828800" cy="27432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2026-09-12T08:31:59Z</dcterms:created>
  <dcterms:modified xsi:type="dcterms:W3CDTF">2026-09-12T08:31:59Z</dcterms:modified>
</cp:coreProperties>
</file>